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 Churn Analysis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31089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9D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Performance Analysis for ABC Communications Ltd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8C4"/>
                </a:solidFill>
              </a:rPr>
              <a:t>AnalystLab Africa — Data Analytics Internship Programme  |  Week 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53949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3"/>
                </a:solidFill>
              </a:rPr>
              <a:t>Prepared by Mouhamadou Moustapha BA, Junior Data Analyst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</a:rPr>
              <a:t>The Business Problem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</a:rPr>
              <a:t>ABC Communications Ltd has engaged our team to understand why customers leave, and what can be done to retain them.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3444240" cy="329184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017520"/>
            <a:ext cx="3444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F4E79"/>
                </a:solidFill>
              </a:rPr>
              <a:t>7,043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4114800"/>
            <a:ext cx="344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95959"/>
                </a:solidFill>
              </a:rPr>
              <a:t>Customers analysed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312920" y="2194560"/>
            <a:ext cx="3444240" cy="329184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12920" y="3017520"/>
            <a:ext cx="3444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62828"/>
                </a:solidFill>
              </a:rPr>
              <a:t>26.5%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312920" y="4114800"/>
            <a:ext cx="344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95959"/>
                </a:solidFill>
              </a:rPr>
              <a:t>Overall churn rate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077200" y="2194560"/>
            <a:ext cx="3444240" cy="329184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77200" y="3017520"/>
            <a:ext cx="3444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F4E79"/>
                </a:solidFill>
              </a:rPr>
              <a:t>6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8077200" y="4114800"/>
            <a:ext cx="344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95959"/>
                </a:solidFill>
              </a:rPr>
              <a:t>Business questions answered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</a:rPr>
              <a:t>What Does the Customer Base Look Like?</a:t>
            </a:r>
            <a:endParaRPr lang="en-US" sz="2800" dirty="0"/>
          </a:p>
        </p:txBody>
      </p:sp>
      <p:pic>
        <p:nvPicPr>
          <p:cNvPr id="3" name="Image 0" descr="notebooks/outputs/figures/00_customer_base_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80160"/>
            <a:ext cx="10789920" cy="3108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45720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95959"/>
                </a:solidFill>
              </a:rPr>
              <a:t>Evenly split by gender; skews heavily non-senior (83.8%). Month-to-month is the dominant contract type at 55% — and, as shown next, also the riskiest.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</a:rPr>
              <a:t>Contract Type Is the #1 Churn Driver</a:t>
            </a:r>
            <a:endParaRPr lang="en-US" sz="2800" dirty="0"/>
          </a:p>
        </p:txBody>
      </p:sp>
      <p:pic>
        <p:nvPicPr>
          <p:cNvPr id="3" name="Image 0" descr="notebooks/outputs/figures/01_bar_churn_by_contra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6583680" cy="4937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0" y="13716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</a:rPr>
              <a:t>Month-to-month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7315200" y="178308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62828"/>
                </a:solidFill>
              </a:rPr>
              <a:t>42.7%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7315200" y="27432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</a:rPr>
              <a:t>One year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315200" y="315468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09B00"/>
                </a:solidFill>
              </a:rPr>
              <a:t>11.3%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7315200" y="41148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</a:rPr>
              <a:t>Two year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315200" y="452628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E7D32"/>
                </a:solidFill>
              </a:rPr>
              <a:t>2.8%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7315200" y="548640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95959"/>
                </a:solidFill>
              </a:rPr>
              <a:t>Month-to-month customers churn 15x more than two-year contract holders.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</a:rPr>
              <a:t>Does Tenure Affect Loyalty?</a:t>
            </a:r>
            <a:endParaRPr lang="en-US" sz="2800" dirty="0"/>
          </a:p>
        </p:txBody>
      </p:sp>
      <p:pic>
        <p:nvPicPr>
          <p:cNvPr id="3" name="Image 0" descr="notebooks/outputs/figures/06_hist_ten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6400800" cy="47548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223760" y="164592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</a:rPr>
              <a:t>Median tenure at churn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7223760" y="2103120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62828"/>
                </a:solidFill>
              </a:rPr>
              <a:t>10 months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7223760" y="320040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</a:rPr>
              <a:t>Median tenure retained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223760" y="3657600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E7D32"/>
                </a:solidFill>
              </a:rPr>
              <a:t>38 months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7223760" y="475488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95959"/>
                </a:solidFill>
              </a:rPr>
              <a:t>The first year is the critical retention window.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</a:rPr>
              <a:t>Which Services Influence Churn?</a:t>
            </a:r>
            <a:endParaRPr lang="en-US" sz="2800" dirty="0"/>
          </a:p>
        </p:txBody>
      </p:sp>
      <p:pic>
        <p:nvPicPr>
          <p:cNvPr id="3" name="Image 0" descr="notebooks/outputs/figures/03_bar_churn_by_intern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6217920" cy="4846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49440" y="1828800"/>
            <a:ext cx="4572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</a:rPr>
              <a:t>Fiber optic — ABC's premium internet tier — churns at 41.9%, more than double DSL (19.0%). This points to a price or reliability gap rather than lack of demand.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949440" y="4206240"/>
            <a:ext cx="4572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95959"/>
                </a:solidFill>
              </a:rPr>
              <a:t>Customers who churn also pay more on average ($74.44/mo vs $61.27/mo for retained customers) — reinforcing price sensitivity as a factor.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</a:rPr>
              <a:t>Which Payment Methods Have Higher Churn?</a:t>
            </a:r>
            <a:endParaRPr lang="en-US" sz="2800" dirty="0"/>
          </a:p>
        </p:txBody>
      </p:sp>
      <p:pic>
        <p:nvPicPr>
          <p:cNvPr id="3" name="Image 0" descr="notebooks/outputs/figures/02_bar_churn_by_pay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6766560" cy="4937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89520" y="15544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</a:rPr>
              <a:t>Electronic check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7589520" y="196596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62828"/>
                </a:solidFill>
              </a:rPr>
              <a:t>45.3%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7589520" y="30175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</a:rPr>
              <a:t>Automated methods (avg.)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589520" y="342900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E7D32"/>
                </a:solidFill>
              </a:rPr>
              <a:t>~17.0%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7589520" y="4572000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95959"/>
                </a:solidFill>
              </a:rPr>
              <a:t>Manual payment removes the friction of cancelling — no recurring charge to actively stop.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</a:rPr>
              <a:t>Key Business Insights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08760"/>
            <a:ext cx="365760" cy="36576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508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88720" y="14630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</a:rPr>
              <a:t>Contract type is the dominant churn driver (42.7% vs 2.8%)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2377440"/>
            <a:ext cx="365760" cy="36576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377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23317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</a:rPr>
              <a:t>The first 12 months are the highest-risk retention window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40080" y="3246120"/>
            <a:ext cx="365760" cy="36576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246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</a:rPr>
              <a:t>Fiber optic customers churn at double the rate of DSL customers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40080" y="4114800"/>
            <a:ext cx="365760" cy="36576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114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40690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</a:rPr>
              <a:t>Electronic check users churn nearly 3x more than automated payers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40080" y="4983480"/>
            <a:ext cx="365760" cy="36576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983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88720" y="49377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</a:rPr>
              <a:t>Senior citizens churn at almost double the rate of non-seniors (41.7% vs 23.6%)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</a:rPr>
              <a:t>Risks &amp; Opportunities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4754880"/>
          </a:xfrm>
          <a:prstGeom prst="rect">
            <a:avLst/>
          </a:prstGeom>
          <a:solidFill>
            <a:srgbClr val="FDECEA"/>
          </a:solidFill>
          <a:ln w="12700">
            <a:solidFill>
              <a:srgbClr val="FDEC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5544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62828"/>
                </a:solidFill>
              </a:rPr>
              <a:t>Risks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2103120"/>
            <a:ext cx="484632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</a:rPr>
              <a:t>Revenue concentration: 55% of customers sit in the highest-churn contract tier
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</a:rPr>
              <a:t>Premium product underperforming: fiber optic churn risks reputational damage on ABC's highest-margin service
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</a:rPr>
              <a:t>Wasted acquisition cost: early-tenure churn means customers leave before covering acquisition spend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17920" y="1371600"/>
            <a:ext cx="5394960" cy="4754880"/>
          </a:xfrm>
          <a:prstGeom prst="rect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92240" y="15544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32"/>
                </a:solidFill>
              </a:rPr>
              <a:t>Opportunities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92240" y="2103120"/>
            <a:ext cx="484632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</a:rPr>
              <a:t>Contract migration campaigns: incentivize month-to-month customers to commit to annual/two-year plans
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</a:rPr>
              <a:t>Payment automation push: encourage electronic check users toward automatic payment methods
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</a:rPr>
              <a:t>First-year retention program: structured onboarding for the highest-risk tenure window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Recommendations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FA8C4"/>
                </a:solidFill>
              </a:rPr>
              <a:t>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80160" y="14630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Launch a contract upgrade incentive for month-to-month customers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224028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FA8C4"/>
                </a:solidFill>
              </a:rPr>
              <a:t>2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80160" y="22402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Build a 90-day new customer retention program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FA8C4"/>
                </a:solidFill>
              </a:rPr>
              <a:t>3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280160" y="30175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Investigate fiber optic service quality and pricing perception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0080" y="379476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FA8C4"/>
                </a:solidFill>
              </a:rPr>
              <a:t>4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280160" y="3794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Incentivize migration to automatic payment methods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0080" y="457200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FA8C4"/>
                </a:solidFill>
              </a:rPr>
              <a:t>5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280160" y="45720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Create a dedicated senior citizen retention track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0080" y="534924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FA8C4"/>
                </a:solidFill>
              </a:rPr>
              <a:t>6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280160" y="53492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Deploy an early-warning churn risk score for the retention team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2026-08-09T17:35:14Z</dcterms:created>
  <dcterms:modified xsi:type="dcterms:W3CDTF">2026-08-09T17:35:14Z</dcterms:modified>
</cp:coreProperties>
</file>